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969F86C3-D80F-8B50-6DE0-9A837EA57D1D}">
          <p14:sldIdLst>
            <p14:sldId id="256"/>
            <p14:sldId id="257"/>
            <p14:sldId id="258"/>
          </p14:sldIdLst>
        </p14:section>
        <p14:section name="Решение" id="{AC327606-82B0-45F1-07CA-723A88E4975B}">
          <p14:sldIdLst>
            <p14:sldId id="259"/>
            <p14:sldId id="260"/>
            <p14:sldId id="261"/>
            <p14:sldId id="262"/>
          </p14:sldIdLst>
        </p14:section>
        <p14:section name="Итоги" id="{3075A6E8-D180-D4A5-F32C-360172BF293A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0F2A3D"/>
                </a:solidFill>
                <a:latin typeface="+mn-lt"/>
              </a:rPr>
              <a:t>Строк в партиции thermo-living-01 по суткам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Строк в партиции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A3D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16.10</c:v>
                </c:pt>
                <c:pt idx="1">
                  <c:v>17.10</c:v>
                </c:pt>
                <c:pt idx="2">
                  <c:v>18.10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96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50-4136-95FD-98913ECC2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</c:scaling>
        <c:delete val="0"/>
        <c:axPos val="l"/>
        <c:majorGridlines>
          <c:spPr>
            <a:ln w="6350" cap="flat">
              <a:solidFill>
                <a:srgbClr val="D5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29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Задача: принимать измерения датчиков умного дома и быстро отдавать их по устройству и периоду. Вариант 12 — Cassandra, таблицы по устройству и временному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блока работы: требования, обоснование технологии, модель с кодом, тесты и демонстрация.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список — в docs/requirements.md. Критичные паттерны: запись измерения и чтение текущего состояния.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ADR-001. Честная оговорка: для одного дома реляционная БД проще. Cassandra выбрана под масштаб платформы и профиль нагрузки.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Принцип: таблица под запрос. Ключ партиции (device_id, bucket) ограничивает её размер, ts DESC даёт последние измерения первыми.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Сервис не знает о БД: работает через репозиторий. Cassandra-репозиторий — prepared statements; in-memory двойник нужен для тестов без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Запись: bucket, история, upsert текущего состояния без затирания запоздавшими событиями, проверка порогов.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Партиция 18.10 неполная (текущие сутки), 96 строк = 24 часа по 4 измерения. Вывод демо и тесты получены на Cassandra 4.1 в Docker; на защите показать запуск scripts/demo_queries.py.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ограничение — модель под запрос: аналитика между устройствами выносится за пределы Cassandra.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модель под запрос с bucket по устройству работает для задачи; цена — денормализация. Ссылка на репозиторий — в README и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51560"/>
            <a:ext cx="5394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515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Телеметрия умного дома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Apache Cassandra · СРО, вариант 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Проблема: поток измерений датчиков нужно быстро записывать и читать по устройству и периоду.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Оразбаев Махсуд · ИС </a:t>
            </a:r>
            <a:r>
              <a:rPr lang="en-US" sz="1200" dirty="0" smtClean="0">
                <a:solidFill>
                  <a:schemeClr val="bg2"/>
                </a:solidFill>
              </a:rPr>
              <a:t>24-22</a:t>
            </a:r>
            <a:endParaRPr lang="ru-RU" sz="1200" dirty="0" smtClean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ru-RU" sz="1200" dirty="0" smtClean="0">
                <a:solidFill>
                  <a:schemeClr val="bg2"/>
                </a:solidFill>
              </a:rPr>
              <a:t>Проверил: </a:t>
            </a:r>
            <a:r>
              <a:rPr lang="ru-RU" sz="1200" dirty="0" err="1" smtClean="0">
                <a:solidFill>
                  <a:schemeClr val="bg2"/>
                </a:solidFill>
              </a:rPr>
              <a:t>Рашидинов</a:t>
            </a:r>
            <a:r>
              <a:rPr lang="ru-RU" sz="1200" dirty="0" smtClean="0">
                <a:solidFill>
                  <a:schemeClr val="bg2"/>
                </a:solidFill>
              </a:rPr>
              <a:t> Д.Р.</a:t>
            </a:r>
          </a:p>
          <a:p>
            <a:pPr marL="0" indent="0">
              <a:buNone/>
            </a:pPr>
            <a:r>
              <a:rPr lang="ru-RU" sz="1200" dirty="0" smtClean="0">
                <a:solidFill>
                  <a:schemeClr val="bg2"/>
                </a:solidFill>
              </a:rPr>
              <a:t>Алма-Ата </a:t>
            </a:r>
            <a:r>
              <a:rPr lang="ru-RU" sz="1200" smtClean="0">
                <a:solidFill>
                  <a:schemeClr val="bg2"/>
                </a:solidFill>
              </a:rPr>
              <a:t>2026 год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2 023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измерения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устройств в 3 комнатах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таблиц под запросы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Цель и задачи</a:t>
            </a:r>
            <a:endParaRPr lang="en-US" sz="3600" dirty="0"/>
          </a:p>
        </p:txBody>
      </p:sp>
      <p:sp>
        <p:nvSpPr>
          <p:cNvPr id="3" name="goal-card"/>
          <p:cNvSpPr/>
          <p:nvPr/>
        </p:nvSpPr>
        <p:spPr>
          <a:xfrm>
            <a:off x="457200" y="1280160"/>
            <a:ext cx="33832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Прототип подсистемы телеметрии на Cassandra: таблицы по устройству и bucket, выборка по периоду, контроль размера партиций.</a:t>
            </a:r>
            <a:endParaRPr lang="en-US" sz="1600" dirty="0"/>
          </a:p>
        </p:txBody>
      </p:sp>
      <p:sp>
        <p:nvSpPr>
          <p:cNvPr id="6" name="task-icon-0-bg"/>
          <p:cNvSpPr/>
          <p:nvPr/>
        </p:nvSpPr>
        <p:spPr>
          <a:xfrm>
            <a:off x="42062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ask-icon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9961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92040" y="1298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Требования и Access Patterns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6642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9 FR, 6 NFR, 10 AP</a:t>
            </a:r>
            <a:endParaRPr lang="en-US" sz="1400" dirty="0"/>
          </a:p>
        </p:txBody>
      </p:sp>
      <p:sp>
        <p:nvSpPr>
          <p:cNvPr id="10" name="task-icon-1-bg"/>
          <p:cNvSpPr/>
          <p:nvPr/>
        </p:nvSpPr>
        <p:spPr>
          <a:xfrm>
            <a:off x="4206240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ask-icon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225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92040" y="21214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Выбор технологии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4871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сравнение альтернатив, ADR</a:t>
            </a:r>
            <a:endParaRPr lang="en-US" sz="1400" dirty="0"/>
          </a:p>
        </p:txBody>
      </p:sp>
      <p:sp>
        <p:nvSpPr>
          <p:cNvPr id="14" name="task-icon-2-bg"/>
          <p:cNvSpPr/>
          <p:nvPr/>
        </p:nvSpPr>
        <p:spPr>
          <a:xfrm>
            <a:off x="420624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ask-icon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314553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944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Модель и код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3310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5 таблиц, Python, seed 2 023 событий</a:t>
            </a:r>
            <a:endParaRPr lang="en-US" sz="1400" dirty="0"/>
          </a:p>
        </p:txBody>
      </p:sp>
      <p:sp>
        <p:nvSpPr>
          <p:cNvPr id="18" name="task-icon-3-bg"/>
          <p:cNvSpPr/>
          <p:nvPr/>
        </p:nvSpPr>
        <p:spPr>
          <a:xfrm>
            <a:off x="420624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task-icon-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396849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92040" y="37673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Тесты и демо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892040" y="41330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25 тестов, 10 запросов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Требования</a:t>
            </a:r>
            <a:endParaRPr lang="en-US" sz="3600" dirty="0"/>
          </a:p>
        </p:txBody>
      </p:sp>
      <p:sp>
        <p:nvSpPr>
          <p:cNvPr id="3" name="stat-card-0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функциональных</a:t>
            </a:r>
            <a:endParaRPr lang="en-US" sz="1600" dirty="0"/>
          </a:p>
        </p:txBody>
      </p:sp>
      <p:sp>
        <p:nvSpPr>
          <p:cNvPr id="6" name="stat-card-1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нефункциональных</a:t>
            </a:r>
            <a:endParaRPr lang="en-US" sz="1600" dirty="0"/>
          </a:p>
        </p:txBody>
      </p:sp>
      <p:sp>
        <p:nvSpPr>
          <p:cNvPr id="9" name="stat-card-2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Access Patterns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Критично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запись измерения (AP3), текущее состояние (AP6)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Высокий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493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период (AP4), последние N (AP5), тревоги (AP8)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59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Нефункц.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05993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ограничение партиции, TTL 30 дней, воспроизводимость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Почему Cassandra</a:t>
            </a:r>
            <a:endParaRPr lang="en-US" sz="3600" dirty="0"/>
          </a:p>
        </p:txBody>
      </p:sp>
      <p:graphicFrame>
        <p:nvGraphicFramePr>
          <p:cNvPr id="5" name="alternativ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Оценка для задачи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/ Timescale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Проще, есть JOIN; запись масштабируется вертикально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MongoDB time-series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Удобные агрегации; шардирование требует ключа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Redis TimeSeries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Быстро, но история месяцев хранится в RAM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Cassandra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Линейная запись, TTL, сортировка внутри партиции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Профиль нагрузки — append-only запись и чтение «устройство + период». Для одного дома PostgreSQL проще; Cassandra оправдана при росте числа устройств.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Модель данных</a:t>
            </a:r>
            <a:endParaRPr lang="en-US" sz="3600" dirty="0"/>
          </a:p>
        </p:txBody>
      </p:sp>
      <p:sp>
        <p:nvSpPr>
          <p:cNvPr id="3" name="table-card-0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measurements_by_device_bucket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((device_id, bucket), ts DESC)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история, TTL 30 дней</a:t>
            </a:r>
            <a:endParaRPr lang="en-US" sz="1400" dirty="0"/>
          </a:p>
        </p:txBody>
      </p:sp>
      <p:sp>
        <p:nvSpPr>
          <p:cNvPr id="7" name="table-card-1"/>
          <p:cNvSpPr/>
          <p:nvPr/>
        </p:nvSpPr>
        <p:spPr>
          <a:xfrm>
            <a:off x="329184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latest_by_device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device_id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текущее состояние</a:t>
            </a:r>
            <a:endParaRPr lang="en-US" sz="1400" dirty="0"/>
          </a:p>
        </p:txBody>
      </p:sp>
      <p:sp>
        <p:nvSpPr>
          <p:cNvPr id="11" name="table-card-2"/>
          <p:cNvSpPr/>
          <p:nvPr/>
        </p:nvSpPr>
        <p:spPr>
          <a:xfrm>
            <a:off x="612648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devices_by_room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((home_id, room), device_id)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устройства комнаты</a:t>
            </a:r>
            <a:endParaRPr lang="en-US" sz="1400" dirty="0"/>
          </a:p>
        </p:txBody>
      </p:sp>
      <p:sp>
        <p:nvSpPr>
          <p:cNvPr id="15" name="table-card-3"/>
          <p:cNvSpPr/>
          <p:nvPr/>
        </p:nvSpPr>
        <p:spPr>
          <a:xfrm>
            <a:off x="457200" y="28346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devices_by_id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device_id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поиск и пороги</a:t>
            </a:r>
            <a:endParaRPr lang="en-US" sz="1400" dirty="0"/>
          </a:p>
        </p:txBody>
      </p:sp>
      <p:sp>
        <p:nvSpPr>
          <p:cNvPr id="19" name="table-card-4"/>
          <p:cNvSpPr/>
          <p:nvPr/>
        </p:nvSpPr>
        <p:spPr>
          <a:xfrm>
            <a:off x="3291840" y="28346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alerts_by_home_day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((home_id, day), ts DESC, device_id)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тревоги за день</a:t>
            </a:r>
            <a:endParaRPr lang="en-US" sz="1400" dirty="0"/>
          </a:p>
        </p:txBody>
      </p:sp>
      <p:sp>
        <p:nvSpPr>
          <p:cNvPr id="23" name="bucket-callout"/>
          <p:cNvSpPr/>
          <p:nvPr/>
        </p:nvSpPr>
        <p:spPr>
          <a:xfrm>
            <a:off x="6126480" y="283464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bucket = день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96–1 440 строк в партиции — на порядки меньше 100 МБ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Архитектура</a:t>
            </a:r>
            <a:endParaRPr lang="en-US" sz="3600" dirty="0"/>
          </a:p>
        </p:txBody>
      </p:sp>
      <p:pic>
        <p:nvPicPr>
          <p:cNvPr id="3" name="architecture-diagram" descr="Схема архитектуры: сервис, репозитории и таблицы Cassand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51560"/>
            <a:ext cx="6949440" cy="39169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Реализация</a:t>
            </a:r>
            <a:endParaRPr lang="en-US" sz="3600" dirty="0"/>
          </a:p>
        </p:txBody>
      </p:sp>
      <p:sp>
        <p:nvSpPr>
          <p:cNvPr id="3" name="code-card"/>
          <p:cNvSpPr/>
          <p:nvPr/>
        </p:nvSpPr>
        <p:spPr>
          <a:xfrm>
            <a:off x="457200" y="1234440"/>
            <a:ext cx="4937760" cy="333756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4526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record(self, device_id, ts, value):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 = self.repo.get_device(device_id)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bucket_for(ts, self.gran)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self.repo.insert_measurement(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device_id, bucket, ts, value)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cur is None or ts &gt;= cur.ts: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self.repo.upsert_latest(...)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 = self._check_thresholds(...)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alert: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self.repo.insert_alert(alert)</a:t>
            </a:r>
            <a:endParaRPr lang="en-US" sz="1400" dirty="0"/>
          </a:p>
        </p:txBody>
      </p:sp>
      <p:sp>
        <p:nvSpPr>
          <p:cNvPr id="5" name="impl-icon-0-bg"/>
          <p:cNvSpPr/>
          <p:nvPr/>
        </p:nvSpPr>
        <p:spPr>
          <a:xfrm>
            <a:off x="56692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pl-icon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4081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55080" y="1252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+ cassandra-driver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prepared statements</a:t>
            </a:r>
            <a:endParaRPr lang="en-US" sz="1400" dirty="0"/>
          </a:p>
        </p:txBody>
      </p:sp>
      <p:sp>
        <p:nvSpPr>
          <p:cNvPr id="9" name="impl-icon-1-bg"/>
          <p:cNvSpPr/>
          <p:nvPr/>
        </p:nvSpPr>
        <p:spPr>
          <a:xfrm>
            <a:off x="566928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pl-icon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22768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Сервис и репозиторий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логика отделена от БД</a:t>
            </a:r>
            <a:endParaRPr lang="en-US" sz="1400" dirty="0"/>
          </a:p>
        </p:txBody>
      </p:sp>
      <p:sp>
        <p:nvSpPr>
          <p:cNvPr id="13" name="impl-icon-2-bg"/>
          <p:cNvSpPr/>
          <p:nvPr/>
        </p:nvSpPr>
        <p:spPr>
          <a:xfrm>
            <a:off x="566928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pl-icon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14553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55080" y="2990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In-memory двойник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3355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тесты без Cassandra</a:t>
            </a:r>
            <a:endParaRPr lang="en-US" sz="1400" dirty="0"/>
          </a:p>
        </p:txBody>
      </p:sp>
      <p:sp>
        <p:nvSpPr>
          <p:cNvPr id="17" name="impl-icon-3-bg"/>
          <p:cNvSpPr/>
          <p:nvPr/>
        </p:nvSpPr>
        <p:spPr>
          <a:xfrm>
            <a:off x="566928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pl-icon-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401421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55080" y="3858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Cassandra 4.1 одной командой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Результаты</a:t>
            </a:r>
            <a:endParaRPr lang="en-US" sz="3600" dirty="0"/>
          </a:p>
        </p:txBody>
      </p:sp>
      <p:graphicFrame>
        <p:nvGraphicFramePr>
          <p:cNvPr id="3" name="partition-chart"/>
          <p:cNvGraphicFramePr/>
          <p:nvPr/>
        </p:nvGraphicFramePr>
        <p:xfrm>
          <a:off x="457200" y="1188720"/>
          <a:ext cx="48463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sult-card-0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из 25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тестов проходят на Cassandra 4.1</a:t>
            </a:r>
            <a:endParaRPr lang="en-US" sz="1200" dirty="0"/>
          </a:p>
        </p:txBody>
      </p:sp>
      <p:sp>
        <p:nvSpPr>
          <p:cNvPr id="7" name="result-card-1"/>
          <p:cNvSpPr/>
          <p:nvPr/>
        </p:nvSpPr>
        <p:spPr>
          <a:xfrm>
            <a:off x="5577840" y="237744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из них интеграционные, на живой базе</a:t>
            </a:r>
            <a:endParaRPr lang="en-US" sz="1200" dirty="0"/>
          </a:p>
        </p:txBody>
      </p:sp>
      <p:sp>
        <p:nvSpPr>
          <p:cNvPr id="10" name="result-card-2"/>
          <p:cNvSpPr/>
          <p:nvPr/>
        </p:nvSpPr>
        <p:spPr>
          <a:xfrm>
            <a:off x="5577840" y="356616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· Q6 · Q8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нетривиальные: через полночь, агрегаты, join в приложении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Ограничения</a:t>
            </a:r>
            <a:endParaRPr lang="en-US" sz="3600" dirty="0"/>
          </a:p>
        </p:txBody>
      </p:sp>
      <p:sp>
        <p:nvSpPr>
          <p:cNvPr id="3" name="limit-card-0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-icon-0-bg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imit-icon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824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36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Запись неатомарна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несколько таблиц; операции идемпотентны</a:t>
            </a:r>
            <a:endParaRPr lang="en-US" sz="1400" dirty="0"/>
          </a:p>
        </p:txBody>
      </p:sp>
      <p:sp>
        <p:nvSpPr>
          <p:cNvPr id="8" name="limit-card-1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-icon-1-bg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imit-icon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6824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36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Нет JOIN и ad-hoc запросов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новый запрос — новая таблица</a:t>
            </a:r>
            <a:endParaRPr lang="en-US" sz="1400" dirty="0"/>
          </a:p>
        </p:txBody>
      </p:sp>
      <p:sp>
        <p:nvSpPr>
          <p:cNvPr id="13" name="limit-card-2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-icon-2-bg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limit-icon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37413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2278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Стенд: 1 узел, RF=1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отказоустойчивость не проверялась</a:t>
            </a:r>
            <a:endParaRPr lang="en-US" sz="1400" dirty="0"/>
          </a:p>
        </p:txBody>
      </p:sp>
      <p:sp>
        <p:nvSpPr>
          <p:cNvPr id="18" name="limit-card-3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mit-icon-3-bg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limit-icon-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337413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2278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Данные синтетические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интеграционные тесты нужно запустить на Cassandra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Выводы</a:t>
            </a:r>
            <a:endParaRPr lang="en-US" sz="3600" dirty="0"/>
          </a:p>
        </p:txBody>
      </p:sp>
      <p:sp>
        <p:nvSpPr>
          <p:cNvPr id="3" name="conclusion-icon-0-bg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onclusion-icon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408176"/>
            <a:ext cx="246888" cy="246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10 Access Patterns закрыты без ALLOW FILTERING</a:t>
            </a:r>
            <a:endParaRPr lang="en-US" sz="1800" dirty="0"/>
          </a:p>
        </p:txBody>
      </p:sp>
      <p:sp>
        <p:nvSpPr>
          <p:cNvPr id="6" name="conclusion-icon-1-bg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clusion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9397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Партиция ограничена bucket; ts DESC даёт «последние первыми»</a:t>
            </a:r>
            <a:endParaRPr lang="en-US" sz="1800" dirty="0"/>
          </a:p>
        </p:txBody>
      </p:sp>
      <p:sp>
        <p:nvSpPr>
          <p:cNvPr id="9" name="conclusion-icon-2-bg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onclusion-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77977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TTL и TWCS убирают ручную очистку</a:t>
            </a:r>
            <a:endParaRPr lang="en-US" sz="1800" dirty="0"/>
          </a:p>
        </p:txBody>
      </p:sp>
      <p:sp>
        <p:nvSpPr>
          <p:cNvPr id="12" name="conclusion-icon-3-bg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onclusion-icon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465576"/>
            <a:ext cx="246888" cy="2468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383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Цена — денормализация и отсутствие ad-hoc запросов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HomeTelemetry">
  <a:themeElements>
    <a:clrScheme name="SmartHomeTelemetry">
      <a:dk1>
        <a:srgbClr val="0F2A3D"/>
      </a:dk1>
      <a:lt1>
        <a:srgbClr val="FFFFFF"/>
      </a:lt1>
      <a:dk2>
        <a:srgbClr val="1C7293"/>
      </a:dk2>
      <a:lt2>
        <a:srgbClr val="EEF4F7"/>
      </a:lt2>
      <a:accent1>
        <a:srgbClr val="F59E0B"/>
      </a:accent1>
      <a:accent2>
        <a:srgbClr val="1C7293"/>
      </a:accent2>
      <a:accent3>
        <a:srgbClr val="5B7C8D"/>
      </a:accent3>
      <a:accent4>
        <a:srgbClr val="DC2626"/>
      </a:accent4>
      <a:accent5>
        <a:srgbClr val="0E9F8E"/>
      </a:accent5>
      <a:accent6>
        <a:srgbClr val="475569"/>
      </a:accent6>
      <a:hlink>
        <a:srgbClr val="1C7293"/>
      </a:hlink>
      <a:folHlink>
        <a:srgbClr val="5B7C8D"/>
      </a:folHlink>
    </a:clrScheme>
    <a:fontScheme name="SmartHomeTelemet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715</Words>
  <Application>Microsoft Office PowerPoint</Application>
  <PresentationFormat>Экран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SmartHomeTelemetry</vt:lpstr>
      <vt:lpstr>Телеметрия умного дома</vt:lpstr>
      <vt:lpstr>Цель и задачи</vt:lpstr>
      <vt:lpstr>Требования</vt:lpstr>
      <vt:lpstr>Почему Cassandra</vt:lpstr>
      <vt:lpstr>Модель данных</vt:lpstr>
      <vt:lpstr>Архитектура</vt:lpstr>
      <vt:lpstr>Реализация</vt:lpstr>
      <vt:lpstr>Результаты</vt:lpstr>
      <vt:lpstr>Ограничения</vt:lpstr>
      <vt:lpstr>Выводы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Телеметрия умного дома на Apache Cassandra</dc:title>
  <dc:subject>PptxGenJS Presentation</dc:subject>
  <dc:creator>СРО, вариант 12</dc:creator>
  <cp:lastModifiedBy>Mahsut</cp:lastModifiedBy>
  <cp:revision>2</cp:revision>
  <dcterms:created xsi:type="dcterms:W3CDTF">2026-10-18T13:31:39Z</dcterms:created>
  <dcterms:modified xsi:type="dcterms:W3CDTF">2026-10-21T06:53:15Z</dcterms:modified>
</cp:coreProperties>
</file>